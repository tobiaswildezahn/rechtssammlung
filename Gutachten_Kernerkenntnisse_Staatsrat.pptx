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8" r:id="rId2"/>
    <p:sldId id="269" r:id="rId3"/>
    <p:sldId id="274" r:id="rId4"/>
    <p:sldId id="276" r:id="rId5"/>
    <p:sldId id="277" r:id="rId6"/>
    <p:sldId id="278" r:id="rId7"/>
    <p:sldId id="27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1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94560"/>
            <a:ext cx="1463040" cy="0"/>
          </a:xfrm>
          <a:prstGeom prst="line">
            <a:avLst/>
          </a:prstGeom>
          <a:noFill/>
          <a:ln w="9525">
            <a:solidFill>
              <a:srgbClr val="E8EBF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KERNERKENNTNISSE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Handlungsmöglichkeiten des Ersten Bürgermeisters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der Katastrophenlage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Rechtsbefugnisse, Grenzen und operative Lenkung nach Verfassung, HmbKatSG, KatSchGDAnO, KatSO und SenGO HA 2025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943600"/>
            <a:ext cx="1463040" cy="0"/>
          </a:xfrm>
          <a:prstGeom prst="line">
            <a:avLst/>
          </a:prstGeom>
          <a:noFill/>
          <a:ln w="6350">
            <a:solidFill>
              <a:srgbClr val="E8EBF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 für:  </a:t>
            </a:r>
            <a:r>
              <a:rPr lang="en-US" sz="14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Staatsrat · Behörde für Inneres und Sport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  </a:t>
            </a:r>
            <a:r>
              <a:rPr lang="en-US" sz="14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April 2026 · Rechtsstand Landesrecht Hamburg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Bearbeiter:  </a:t>
            </a:r>
            <a:r>
              <a:rPr lang="en-US" sz="14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 · Berufsfeuerwehr Hamburg, A13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8422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02 · PRÜFUNGSMASSSTAB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Rechtsgrundlagen im Überblick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Rolle des Ersten Bürgermeisters ergibt sich aus dem Zusammenspiel von drei Regelungskreisen. Entscheidend neben Verfassung und HmbKatSG ist die KatSO (1984/2006) i.V.m. SenGO HA 2025.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484778" cy="3246120"/>
          </a:xfrm>
          <a:prstGeom prst="rect">
            <a:avLst/>
          </a:prstGeom>
          <a:solidFill>
            <a:srgbClr val="F3F4F8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3152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32688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· Staatsorganisationsrecht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33832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 im Senat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374904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33, 34, 42 Verf HA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2, 3, 5, 7 SenG HA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3, 4, 13, 15, 18, 22 SenGO HA 2025</a:t>
            </a:r>
          </a:p>
        </p:txBody>
      </p:sp>
      <p:sp>
        <p:nvSpPr>
          <p:cNvPr id="14" name="Shape 12"/>
          <p:cNvSpPr/>
          <p:nvPr/>
        </p:nvSpPr>
        <p:spPr>
          <a:xfrm>
            <a:off x="932688" y="5120640"/>
            <a:ext cx="2899562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32688" y="5166360"/>
            <a:ext cx="28995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Richtlinienkompetenz, Leitungsfunktion, Tagesordnungshoheit, Auskunfts- und Aktenvorlagerecht.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53458" y="2788920"/>
            <a:ext cx="3484778" cy="3246120"/>
          </a:xfrm>
          <a:prstGeom prst="rect">
            <a:avLst/>
          </a:prstGeom>
          <a:solidFill>
            <a:srgbClr val="F3F4F8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353458" y="2788920"/>
            <a:ext cx="73152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646066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· Katastrophenschutzrecht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46066" y="33832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Besonderes Gefahrenabwehrrecht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46066" y="374904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1, 12–17, 29 HmbKatSG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Abschn. I, II, IV KatSchGDAnO HA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Nr. 2, 5, 6, 7, 10, 14 KatSO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FeuerwG HA</a:t>
            </a:r>
          </a:p>
        </p:txBody>
      </p:sp>
      <p:sp>
        <p:nvSpPr>
          <p:cNvPr id="21" name="Shape 19"/>
          <p:cNvSpPr/>
          <p:nvPr/>
        </p:nvSpPr>
        <p:spPr>
          <a:xfrm>
            <a:off x="4646066" y="5120640"/>
            <a:ext cx="2899562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46066" y="5166360"/>
            <a:ext cx="28995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Zuständigkeit der BIS; Nr. 5 KatSO gewährt dem Präsidenten des Senats eigene operative Befugnisse.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66837" y="2788920"/>
            <a:ext cx="3484778" cy="3246120"/>
          </a:xfrm>
          <a:prstGeom prst="rect">
            <a:avLst/>
          </a:prstGeom>
          <a:solidFill>
            <a:srgbClr val="F3F4F8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8066837" y="2788920"/>
            <a:ext cx="73152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359445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· Bundesrecht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59445" y="338328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Amts- und Katastrophenhilfe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9445" y="374904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 Abs. 2, 3 GG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ZSKG (Rahmen)</a:t>
            </a:r>
          </a:p>
        </p:txBody>
      </p:sp>
      <p:sp>
        <p:nvSpPr>
          <p:cNvPr id="28" name="Shape 26"/>
          <p:cNvSpPr/>
          <p:nvPr/>
        </p:nvSpPr>
        <p:spPr>
          <a:xfrm>
            <a:off x="8359445" y="5120640"/>
            <a:ext cx="2899562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359445" y="5166360"/>
            <a:ext cx="28995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 von Bundeswehr, Bundespolizei, THW und Länderkräften; zwingend Senatsangelegenheit.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0853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03 · KERNBEFUND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Dreifach strukturiertes Rollenprofil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Bürgermeister ist in der Katastrophenlage zugleich Regierungschef, ermächtigter Organwalter nach KatSO — und in klarer Abgrenzung zur fachlichen Einsatzführung der BIS.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484778" cy="3492500"/>
          </a:xfrm>
          <a:prstGeom prst="rect">
            <a:avLst/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48477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698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12" name="Text 10"/>
          <p:cNvSpPr/>
          <p:nvPr/>
        </p:nvSpPr>
        <p:spPr>
          <a:xfrm>
            <a:off x="1651000" y="2880360"/>
            <a:ext cx="247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Politisch-strategische Steuerung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3683000"/>
            <a:ext cx="293613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Richtlinienkompetenz (Art. 42 Abs. 1 S. 2 Verf HA, § 3 SenGO HA 2025). Senatsleitung, Sondersitzungen, Tagesordnungshoheit (§§ 2, 13, 15 SenGO HA 2025). Stichentscheid (Art. 42 Abs. 3 Verf HA; § 18 Abs. 2 SenGO).</a:t>
            </a:r>
          </a:p>
        </p:txBody>
      </p:sp>
      <p:sp>
        <p:nvSpPr>
          <p:cNvPr id="14" name="Shape 12"/>
          <p:cNvSpPr/>
          <p:nvPr/>
        </p:nvSpPr>
        <p:spPr>
          <a:xfrm>
            <a:off x="914400" y="5359400"/>
            <a:ext cx="2936138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14400" y="5422900"/>
            <a:ext cx="29361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Bindung der Senatoren; kein unmittelbarer Durchgriff auf Verwaltung.</a:t>
            </a:r>
          </a:p>
        </p:txBody>
      </p:sp>
      <p:sp>
        <p:nvSpPr>
          <p:cNvPr id="16" name="Shape 14"/>
          <p:cNvSpPr/>
          <p:nvPr/>
        </p:nvSpPr>
        <p:spPr>
          <a:xfrm>
            <a:off x="4353458" y="2697480"/>
            <a:ext cx="3484778" cy="3492500"/>
          </a:xfrm>
          <a:prstGeom prst="rect">
            <a:avLst/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353458" y="2697480"/>
            <a:ext cx="348477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627880" y="2834640"/>
            <a:ext cx="698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9" name="Text 17"/>
          <p:cNvSpPr/>
          <p:nvPr/>
        </p:nvSpPr>
        <p:spPr>
          <a:xfrm>
            <a:off x="5364480" y="2880360"/>
            <a:ext cx="247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Operative Lenkung als Präsident des Senats</a:t>
            </a:r>
          </a:p>
        </p:txBody>
      </p:sp>
      <p:sp>
        <p:nvSpPr>
          <p:cNvPr id="20" name="Text 18"/>
          <p:cNvSpPr/>
          <p:nvPr/>
        </p:nvSpPr>
        <p:spPr>
          <a:xfrm>
            <a:off x="4627778" y="3683000"/>
            <a:ext cx="293613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Jederzeitige Übernahme der einheitlichen Lenkung der Abwehrmaßnahmen mehrerer Behörden (Nr. 5 Abs. 1 S. 2 KatSO). Senatsbeschluss im Verfügungswege — Weisungen an alle hamburgischen Behörden (Nr. 5 Abs. 2 KatSO i.V.m. § 22 Abs. 1 Nr. 2 SenGO HA 2025).</a:t>
            </a:r>
          </a:p>
        </p:txBody>
      </p:sp>
      <p:sp>
        <p:nvSpPr>
          <p:cNvPr id="21" name="Shape 19"/>
          <p:cNvSpPr/>
          <p:nvPr/>
        </p:nvSpPr>
        <p:spPr>
          <a:xfrm>
            <a:off x="4627778" y="5359400"/>
            <a:ext cx="2936138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27778" y="5422900"/>
            <a:ext cx="29361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Tatbestandlich gebunden an Katastrophenfall und Eilbedürftigkeit; subsidiär zur Vollversammlung.</a:t>
            </a:r>
          </a:p>
        </p:txBody>
      </p:sp>
      <p:sp>
        <p:nvSpPr>
          <p:cNvPr id="23" name="Shape 21"/>
          <p:cNvSpPr/>
          <p:nvPr/>
        </p:nvSpPr>
        <p:spPr>
          <a:xfrm>
            <a:off x="8066837" y="2697480"/>
            <a:ext cx="3484778" cy="3492500"/>
          </a:xfrm>
          <a:prstGeom prst="rect">
            <a:avLst/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8066837" y="2697480"/>
            <a:ext cx="348477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341360" y="2834640"/>
            <a:ext cx="698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26" name="Text 24"/>
          <p:cNvSpPr/>
          <p:nvPr/>
        </p:nvSpPr>
        <p:spPr>
          <a:xfrm>
            <a:off x="9077960" y="2880360"/>
            <a:ext cx="247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Abgrenzung zur fachlichen Einsatzleitung</a:t>
            </a:r>
          </a:p>
        </p:txBody>
      </p:sp>
      <p:sp>
        <p:nvSpPr>
          <p:cNvPr id="27" name="Text 25"/>
          <p:cNvSpPr/>
          <p:nvPr/>
        </p:nvSpPr>
        <p:spPr>
          <a:xfrm>
            <a:off x="8341157" y="3683000"/>
            <a:ext cx="293613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Katastrophenfeststellung (§ 14 Abs. 2 HmbKatSG), Räumung/Absperrung (§ 17), Heranziehung (§ 16) verbleiben bei BIS und übrigen Katastrophenschutzbehörden. Feuerwehr-Einsatzleitung am Schadensort nach §§ 3, 4 FeuerwG HA.</a:t>
            </a:r>
          </a:p>
        </p:txBody>
      </p:sp>
      <p:sp>
        <p:nvSpPr>
          <p:cNvPr id="28" name="Shape 26"/>
          <p:cNvSpPr/>
          <p:nvPr/>
        </p:nvSpPr>
        <p:spPr>
          <a:xfrm>
            <a:off x="8341157" y="5359400"/>
            <a:ext cx="2936138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341157" y="5422900"/>
            <a:ext cx="29361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Mäßigungsgebot Nr. 6 KatSO — Handlungsspielraum der Adressaten ist zu wahren.</a:t>
            </a:r>
          </a:p>
        </p:txBody>
      </p:sp>
    </p:spTree>
    <p:extLst>
      <p:ext uri="{BB962C8B-B14F-4D97-AF65-F5344CB8AC3E}">
        <p14:creationId xmlns:p14="http://schemas.microsoft.com/office/powerpoint/2010/main" val="207835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spc="300" dirty="0">
                <a:solidFill>
                  <a:srgbClr val="5C6E8C"/>
                </a:solidFill>
                <a:latin typeface="Calibri" pitchFamily="34" charset="0"/>
              </a:rPr>
              <a:t>FOLIE 04 · BEFUGNISSE AUF EINEN BLICK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E2761"/>
                </a:solidFill>
                <a:latin typeface="Cambria" pitchFamily="34" charset="0"/>
              </a:rPr>
              <a:t>Was BGM I darf – und was nicht</a:t>
            </a:r>
          </a:p>
        </p:txBody>
      </p:sp>
      <p:sp>
        <p:nvSpPr>
          <p:cNvPr id="30" name="LeftCard">
            <a:extLst>
              <a:ext uri="{FF2B5EF4-FFF2-40B4-BE49-F238E27FC236}">
                <a16:creationId xmlns:a16="http://schemas.microsoft.com/office/drawing/2014/main" id="{5663F2B3-86FC-7447-B416-E9281752DD95}"/>
              </a:ext>
            </a:extLst>
          </p:cNvPr>
          <p:cNvSpPr/>
          <p:nvPr/>
        </p:nvSpPr>
        <p:spPr>
          <a:xfrm>
            <a:off x="635000" y="1778000"/>
            <a:ext cx="3302000" cy="3556000"/>
          </a:xfrm>
          <a:prstGeom prst="rect">
            <a:avLst/>
          </a:prstGeom>
          <a:solidFill>
            <a:srgbClr val="EAF4EE"/>
          </a:solidFill>
          <a:ln w="12700" cap="flat" cmpd="sng" algn="ctr">
            <a:solidFill>
              <a:srgbClr val="2E8B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1" name="LeftAccent">
            <a:extLst>
              <a:ext uri="{FF2B5EF4-FFF2-40B4-BE49-F238E27FC236}">
                <a16:creationId xmlns:a16="http://schemas.microsoft.com/office/drawing/2014/main" id="{8C3322C4-6038-DF4A-8E56-6BBC6B980A55}"/>
              </a:ext>
            </a:extLst>
          </p:cNvPr>
          <p:cNvSpPr/>
          <p:nvPr/>
        </p:nvSpPr>
        <p:spPr>
          <a:xfrm>
            <a:off x="635000" y="1778000"/>
            <a:ext cx="3302000" cy="76200"/>
          </a:xfrm>
          <a:prstGeom prst="rect">
            <a:avLst/>
          </a:prstGeom>
          <a:solidFill>
            <a:srgbClr val="2E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LeftLabel">
            <a:extLst>
              <a:ext uri="{FF2B5EF4-FFF2-40B4-BE49-F238E27FC236}">
                <a16:creationId xmlns:a16="http://schemas.microsoft.com/office/drawing/2014/main" id="{07BA2865-8176-244F-90B3-F915D256C410}"/>
              </a:ext>
            </a:extLst>
          </p:cNvPr>
          <p:cNvSpPr txBox="1"/>
          <p:nvPr/>
        </p:nvSpPr>
        <p:spPr>
          <a:xfrm>
            <a:off x="889000" y="20574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400" b="1" spc="300" dirty="0">
                <a:solidFill>
                  <a:srgbClr val="2E8B57"/>
                </a:solidFill>
                <a:latin typeface="Calibri" pitchFamily="34" charset="0"/>
              </a:rPr>
              <a:t>DARF</a:t>
            </a:r>
          </a:p>
        </p:txBody>
      </p:sp>
      <p:sp>
        <p:nvSpPr>
          <p:cNvPr id="33" name="LeftNum">
            <a:extLst>
              <a:ext uri="{FF2B5EF4-FFF2-40B4-BE49-F238E27FC236}">
                <a16:creationId xmlns:a16="http://schemas.microsoft.com/office/drawing/2014/main" id="{E6B2A1F3-519A-1847-A7A4-01CBDB1A8089}"/>
              </a:ext>
            </a:extLst>
          </p:cNvPr>
          <p:cNvSpPr txBox="1"/>
          <p:nvPr/>
        </p:nvSpPr>
        <p:spPr>
          <a:xfrm>
            <a:off x="889000" y="24130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4800" b="1" dirty="0">
                <a:solidFill>
                  <a:srgbClr val="2E8B57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34" name="LeftTitle">
            <a:extLst>
              <a:ext uri="{FF2B5EF4-FFF2-40B4-BE49-F238E27FC236}">
                <a16:creationId xmlns:a16="http://schemas.microsoft.com/office/drawing/2014/main" id="{3ACAB55B-FFF4-844D-9498-FDE55BEEB868}"/>
              </a:ext>
            </a:extLst>
          </p:cNvPr>
          <p:cNvSpPr txBox="1"/>
          <p:nvPr/>
        </p:nvSpPr>
        <p:spPr>
          <a:xfrm>
            <a:off x="889000" y="3238500"/>
            <a:ext cx="279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2000" b="1" dirty="0">
                <a:solidFill>
                  <a:srgbClr val="1E2761"/>
                </a:solidFill>
                <a:latin typeface="Calibri" pitchFamily="34" charset="0"/>
              </a:rPr>
              <a:t>Richtlinien-</a:t>
            </a:r>
          </a:p>
          <a:p>
            <a:pPr marL="0" indent="0">
              <a:buNone/>
            </a:pPr>
            <a:r>
              <a:rPr lang="de-DE" sz="2000" b="1" dirty="0">
                <a:solidFill>
                  <a:srgbClr val="1E2761"/>
                </a:solidFill>
                <a:latin typeface="Calibri" pitchFamily="34" charset="0"/>
              </a:rPr>
              <a:t>kompetenz</a:t>
            </a:r>
          </a:p>
        </p:txBody>
      </p:sp>
      <p:sp>
        <p:nvSpPr>
          <p:cNvPr id="35" name="LeftDesc">
            <a:extLst>
              <a:ext uri="{FF2B5EF4-FFF2-40B4-BE49-F238E27FC236}">
                <a16:creationId xmlns:a16="http://schemas.microsoft.com/office/drawing/2014/main" id="{D6FBE04C-B88A-E049-A1F9-85B8EFC7EAF4}"/>
              </a:ext>
            </a:extLst>
          </p:cNvPr>
          <p:cNvSpPr txBox="1"/>
          <p:nvPr/>
        </p:nvSpPr>
        <p:spPr>
          <a:xfrm>
            <a:off x="889000" y="4127500"/>
            <a:ext cx="279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300" dirty="0">
                <a:solidFill>
                  <a:srgbClr val="4A5578"/>
                </a:solidFill>
                <a:latin typeface="Calibri" pitchFamily="34" charset="0"/>
              </a:rPr>
              <a:t>Politische Leitlinien für die Katastrophenabwehr vorgeben</a:t>
            </a:r>
          </a:p>
        </p:txBody>
      </p:sp>
      <p:sp>
        <p:nvSpPr>
          <p:cNvPr id="36" name="LeftLaw">
            <a:extLst>
              <a:ext uri="{FF2B5EF4-FFF2-40B4-BE49-F238E27FC236}">
                <a16:creationId xmlns:a16="http://schemas.microsoft.com/office/drawing/2014/main" id="{742CE068-D80D-F44A-909A-1E1CB51E0DD4}"/>
              </a:ext>
            </a:extLst>
          </p:cNvPr>
          <p:cNvSpPr txBox="1"/>
          <p:nvPr/>
        </p:nvSpPr>
        <p:spPr>
          <a:xfrm>
            <a:off x="889000" y="48895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100" i="1" dirty="0">
                <a:solidFill>
                  <a:srgbClr val="4A5578"/>
                </a:solidFill>
                <a:latin typeface="Calibri" pitchFamily="34" charset="0"/>
              </a:rPr>
              <a:t>Art. 42 I S. 2 Verf HA · § 3 SenGO</a:t>
            </a:r>
          </a:p>
        </p:txBody>
      </p:sp>
      <p:sp>
        <p:nvSpPr>
          <p:cNvPr id="37" name="NeqSign">
            <a:extLst>
              <a:ext uri="{FF2B5EF4-FFF2-40B4-BE49-F238E27FC236}">
                <a16:creationId xmlns:a16="http://schemas.microsoft.com/office/drawing/2014/main" id="{A29A5E90-7C09-A048-B411-A849C3179D9F}"/>
              </a:ext>
            </a:extLst>
          </p:cNvPr>
          <p:cNvSpPr txBox="1"/>
          <p:nvPr/>
        </p:nvSpPr>
        <p:spPr>
          <a:xfrm>
            <a:off x="3937000" y="3200400"/>
            <a:ext cx="635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de-DE" sz="4800" b="1" dirty="0">
                <a:solidFill>
                  <a:srgbClr val="B0B8C8"/>
                </a:solidFill>
                <a:latin typeface="Cambria" pitchFamily="34" charset="0"/>
              </a:rPr>
              <a:t>≠</a:t>
            </a:r>
          </a:p>
        </p:txBody>
      </p:sp>
      <p:sp>
        <p:nvSpPr>
          <p:cNvPr id="38" name="RightCard">
            <a:extLst>
              <a:ext uri="{FF2B5EF4-FFF2-40B4-BE49-F238E27FC236}">
                <a16:creationId xmlns:a16="http://schemas.microsoft.com/office/drawing/2014/main" id="{7E22BE69-5071-4944-BCE4-F7A93359F3CD}"/>
              </a:ext>
            </a:extLst>
          </p:cNvPr>
          <p:cNvSpPr/>
          <p:nvPr/>
        </p:nvSpPr>
        <p:spPr>
          <a:xfrm>
            <a:off x="4572000" y="1778000"/>
            <a:ext cx="6985000" cy="3556000"/>
          </a:xfrm>
          <a:prstGeom prst="rect">
            <a:avLst/>
          </a:prstGeom>
          <a:solidFill>
            <a:srgbClr val="FBECEA"/>
          </a:solidFill>
          <a:ln w="1270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9" name="RightAccent">
            <a:extLst>
              <a:ext uri="{FF2B5EF4-FFF2-40B4-BE49-F238E27FC236}">
                <a16:creationId xmlns:a16="http://schemas.microsoft.com/office/drawing/2014/main" id="{662B3C82-E65B-7949-B025-6B09235792A5}"/>
              </a:ext>
            </a:extLst>
          </p:cNvPr>
          <p:cNvSpPr/>
          <p:nvPr/>
        </p:nvSpPr>
        <p:spPr>
          <a:xfrm>
            <a:off x="4572000" y="1778000"/>
            <a:ext cx="6985000" cy="76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0" name="RightLabel">
            <a:extLst>
              <a:ext uri="{FF2B5EF4-FFF2-40B4-BE49-F238E27FC236}">
                <a16:creationId xmlns:a16="http://schemas.microsoft.com/office/drawing/2014/main" id="{AC6D8364-74EE-E441-B9B2-73CC88E4691F}"/>
              </a:ext>
            </a:extLst>
          </p:cNvPr>
          <p:cNvSpPr txBox="1"/>
          <p:nvPr/>
        </p:nvSpPr>
        <p:spPr>
          <a:xfrm>
            <a:off x="4826000" y="20574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400" b="1" spc="300" dirty="0">
                <a:solidFill>
                  <a:srgbClr val="C0392B"/>
                </a:solidFill>
                <a:latin typeface="Calibri" pitchFamily="34" charset="0"/>
              </a:rPr>
              <a:t>DARF NICHT</a:t>
            </a:r>
          </a:p>
        </p:txBody>
      </p:sp>
      <p:sp>
        <p:nvSpPr>
          <p:cNvPr id="41" name="RightTitle">
            <a:extLst>
              <a:ext uri="{FF2B5EF4-FFF2-40B4-BE49-F238E27FC236}">
                <a16:creationId xmlns:a16="http://schemas.microsoft.com/office/drawing/2014/main" id="{8B27ED39-3BB2-B649-8892-B4E805EE82B2}"/>
              </a:ext>
            </a:extLst>
          </p:cNvPr>
          <p:cNvSpPr txBox="1"/>
          <p:nvPr/>
        </p:nvSpPr>
        <p:spPr>
          <a:xfrm>
            <a:off x="4826000" y="2413000"/>
            <a:ext cx="647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1E2761"/>
                </a:solidFill>
                <a:latin typeface="Calibri" pitchFamily="34" charset="0"/>
              </a:rPr>
              <a:t>Eigene Exekutiv- und Einzelfallbefugnisse ausüben</a:t>
            </a:r>
          </a:p>
        </p:txBody>
      </p:sp>
      <p:sp>
        <p:nvSpPr>
          <p:cNvPr id="42" name="ExX0">
            <a:extLst>
              <a:ext uri="{FF2B5EF4-FFF2-40B4-BE49-F238E27FC236}">
                <a16:creationId xmlns:a16="http://schemas.microsoft.com/office/drawing/2014/main" id="{D7CCA231-68F8-0440-B28E-809DA63661C4}"/>
              </a:ext>
            </a:extLst>
          </p:cNvPr>
          <p:cNvSpPr txBox="1"/>
          <p:nvPr/>
        </p:nvSpPr>
        <p:spPr>
          <a:xfrm>
            <a:off x="4826000" y="320040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600" b="1" dirty="0">
                <a:solidFill>
                  <a:srgbClr val="C0392B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43" name="ExT0">
            <a:extLst>
              <a:ext uri="{FF2B5EF4-FFF2-40B4-BE49-F238E27FC236}">
                <a16:creationId xmlns:a16="http://schemas.microsoft.com/office/drawing/2014/main" id="{85E1E207-0421-634D-B536-B96E89D52EFA}"/>
              </a:ext>
            </a:extLst>
          </p:cNvPr>
          <p:cNvSpPr txBox="1"/>
          <p:nvPr/>
        </p:nvSpPr>
        <p:spPr>
          <a:xfrm>
            <a:off x="5105400" y="3175000"/>
            <a:ext cx="286385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300" b="1" dirty="0">
                <a:solidFill>
                  <a:srgbClr val="1E2761"/>
                </a:solidFill>
                <a:latin typeface="Calibri" pitchFamily="34" charset="0"/>
              </a:rPr>
              <a:t>Katastrophe feststellen</a:t>
            </a:r>
          </a:p>
        </p:txBody>
      </p:sp>
      <p:sp>
        <p:nvSpPr>
          <p:cNvPr id="44" name="ExL0">
            <a:extLst>
              <a:ext uri="{FF2B5EF4-FFF2-40B4-BE49-F238E27FC236}">
                <a16:creationId xmlns:a16="http://schemas.microsoft.com/office/drawing/2014/main" id="{247F3D8F-6E2A-734A-B03B-921CF47F76F3}"/>
              </a:ext>
            </a:extLst>
          </p:cNvPr>
          <p:cNvSpPr txBox="1"/>
          <p:nvPr/>
        </p:nvSpPr>
        <p:spPr>
          <a:xfrm>
            <a:off x="5105400" y="3708400"/>
            <a:ext cx="286385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000" i="1" dirty="0">
                <a:solidFill>
                  <a:srgbClr val="4A5578"/>
                </a:solidFill>
                <a:latin typeface="Calibri" pitchFamily="34" charset="0"/>
              </a:rPr>
              <a:t>§ 14 II HmbKatSG · BIS</a:t>
            </a:r>
          </a:p>
        </p:txBody>
      </p:sp>
      <p:sp>
        <p:nvSpPr>
          <p:cNvPr id="45" name="ExX1">
            <a:extLst>
              <a:ext uri="{FF2B5EF4-FFF2-40B4-BE49-F238E27FC236}">
                <a16:creationId xmlns:a16="http://schemas.microsoft.com/office/drawing/2014/main" id="{CCFF5CBC-4CB9-0548-8CA9-CA5A0DEDD2A3}"/>
              </a:ext>
            </a:extLst>
          </p:cNvPr>
          <p:cNvSpPr txBox="1"/>
          <p:nvPr/>
        </p:nvSpPr>
        <p:spPr>
          <a:xfrm>
            <a:off x="8159750" y="320040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600" b="1" dirty="0">
                <a:solidFill>
                  <a:srgbClr val="C0392B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46" name="ExT1">
            <a:extLst>
              <a:ext uri="{FF2B5EF4-FFF2-40B4-BE49-F238E27FC236}">
                <a16:creationId xmlns:a16="http://schemas.microsoft.com/office/drawing/2014/main" id="{79E37622-99C6-B943-A076-B41E86CE200B}"/>
              </a:ext>
            </a:extLst>
          </p:cNvPr>
          <p:cNvSpPr txBox="1"/>
          <p:nvPr/>
        </p:nvSpPr>
        <p:spPr>
          <a:xfrm>
            <a:off x="8439150" y="3175000"/>
            <a:ext cx="286385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300" b="1" dirty="0">
                <a:solidFill>
                  <a:srgbClr val="1E2761"/>
                </a:solidFill>
                <a:latin typeface="Calibri" pitchFamily="34" charset="0"/>
              </a:rPr>
              <a:t>Feuerwehr-Einsatzleitung übernehmen</a:t>
            </a:r>
          </a:p>
        </p:txBody>
      </p:sp>
      <p:sp>
        <p:nvSpPr>
          <p:cNvPr id="47" name="ExL1">
            <a:extLst>
              <a:ext uri="{FF2B5EF4-FFF2-40B4-BE49-F238E27FC236}">
                <a16:creationId xmlns:a16="http://schemas.microsoft.com/office/drawing/2014/main" id="{9E77ACCA-28A9-DB49-BDC3-667CB35988C8}"/>
              </a:ext>
            </a:extLst>
          </p:cNvPr>
          <p:cNvSpPr txBox="1"/>
          <p:nvPr/>
        </p:nvSpPr>
        <p:spPr>
          <a:xfrm>
            <a:off x="8439150" y="3708400"/>
            <a:ext cx="286385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000" i="1" dirty="0">
                <a:solidFill>
                  <a:srgbClr val="4A5578"/>
                </a:solidFill>
                <a:latin typeface="Calibri" pitchFamily="34" charset="0"/>
              </a:rPr>
              <a:t>§§ 3, 4 FeuerwG HA</a:t>
            </a:r>
          </a:p>
        </p:txBody>
      </p:sp>
      <p:sp>
        <p:nvSpPr>
          <p:cNvPr id="48" name="ExX2">
            <a:extLst>
              <a:ext uri="{FF2B5EF4-FFF2-40B4-BE49-F238E27FC236}">
                <a16:creationId xmlns:a16="http://schemas.microsoft.com/office/drawing/2014/main" id="{508DD85B-6D8B-1348-8D03-4E74EF57DB34}"/>
              </a:ext>
            </a:extLst>
          </p:cNvPr>
          <p:cNvSpPr txBox="1"/>
          <p:nvPr/>
        </p:nvSpPr>
        <p:spPr>
          <a:xfrm>
            <a:off x="4826000" y="424180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600" b="1" dirty="0">
                <a:solidFill>
                  <a:srgbClr val="C0392B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49" name="ExT2">
            <a:extLst>
              <a:ext uri="{FF2B5EF4-FFF2-40B4-BE49-F238E27FC236}">
                <a16:creationId xmlns:a16="http://schemas.microsoft.com/office/drawing/2014/main" id="{BB1452E6-F796-3D4C-85DB-9B35308EC9E2}"/>
              </a:ext>
            </a:extLst>
          </p:cNvPr>
          <p:cNvSpPr txBox="1"/>
          <p:nvPr/>
        </p:nvSpPr>
        <p:spPr>
          <a:xfrm>
            <a:off x="5105400" y="4216400"/>
            <a:ext cx="286385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300" b="1" dirty="0">
                <a:solidFill>
                  <a:srgbClr val="1E2761"/>
                </a:solidFill>
                <a:latin typeface="Calibri" pitchFamily="34" charset="0"/>
              </a:rPr>
              <a:t>Weisungen an Behörden erteilen</a:t>
            </a:r>
          </a:p>
        </p:txBody>
      </p:sp>
      <p:sp>
        <p:nvSpPr>
          <p:cNvPr id="50" name="ExL2">
            <a:extLst>
              <a:ext uri="{FF2B5EF4-FFF2-40B4-BE49-F238E27FC236}">
                <a16:creationId xmlns:a16="http://schemas.microsoft.com/office/drawing/2014/main" id="{7B05CA0C-B3E1-B745-9638-3868E9E07ABF}"/>
              </a:ext>
            </a:extLst>
          </p:cNvPr>
          <p:cNvSpPr txBox="1"/>
          <p:nvPr/>
        </p:nvSpPr>
        <p:spPr>
          <a:xfrm>
            <a:off x="5105400" y="4749800"/>
            <a:ext cx="286385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000" i="1" dirty="0">
                <a:solidFill>
                  <a:srgbClr val="4A5578"/>
                </a:solidFill>
                <a:latin typeface="Calibri" pitchFamily="34" charset="0"/>
              </a:rPr>
              <a:t>§ 15 HmbKatSG · KatSchBehörde</a:t>
            </a:r>
          </a:p>
        </p:txBody>
      </p:sp>
      <p:sp>
        <p:nvSpPr>
          <p:cNvPr id="51" name="ExX3">
            <a:extLst>
              <a:ext uri="{FF2B5EF4-FFF2-40B4-BE49-F238E27FC236}">
                <a16:creationId xmlns:a16="http://schemas.microsoft.com/office/drawing/2014/main" id="{6D91F693-D678-9943-AA2C-1D55DA084D2A}"/>
              </a:ext>
            </a:extLst>
          </p:cNvPr>
          <p:cNvSpPr txBox="1"/>
          <p:nvPr/>
        </p:nvSpPr>
        <p:spPr>
          <a:xfrm>
            <a:off x="8159750" y="4241800"/>
            <a:ext cx="22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600" b="1" dirty="0">
                <a:solidFill>
                  <a:srgbClr val="C0392B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52" name="ExT3">
            <a:extLst>
              <a:ext uri="{FF2B5EF4-FFF2-40B4-BE49-F238E27FC236}">
                <a16:creationId xmlns:a16="http://schemas.microsoft.com/office/drawing/2014/main" id="{694D5B0D-512B-ED40-9CC8-A2CA487FB0AA}"/>
              </a:ext>
            </a:extLst>
          </p:cNvPr>
          <p:cNvSpPr txBox="1"/>
          <p:nvPr/>
        </p:nvSpPr>
        <p:spPr>
          <a:xfrm>
            <a:off x="8439150" y="4216400"/>
            <a:ext cx="286385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300" b="1" dirty="0">
                <a:solidFill>
                  <a:srgbClr val="1E2761"/>
                </a:solidFill>
                <a:latin typeface="Calibri" pitchFamily="34" charset="0"/>
              </a:rPr>
              <a:t>Räumungen &amp; Heranziehungen anordnen</a:t>
            </a:r>
          </a:p>
        </p:txBody>
      </p:sp>
      <p:sp>
        <p:nvSpPr>
          <p:cNvPr id="53" name="ExL3">
            <a:extLst>
              <a:ext uri="{FF2B5EF4-FFF2-40B4-BE49-F238E27FC236}">
                <a16:creationId xmlns:a16="http://schemas.microsoft.com/office/drawing/2014/main" id="{59333AE9-8E0B-B44F-A68E-4347C1E2CDCC}"/>
              </a:ext>
            </a:extLst>
          </p:cNvPr>
          <p:cNvSpPr txBox="1"/>
          <p:nvPr/>
        </p:nvSpPr>
        <p:spPr>
          <a:xfrm>
            <a:off x="8439150" y="4749800"/>
            <a:ext cx="286385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de-DE" sz="1000" i="1" dirty="0">
                <a:solidFill>
                  <a:srgbClr val="4A5578"/>
                </a:solidFill>
                <a:latin typeface="Calibri" pitchFamily="34" charset="0"/>
              </a:rPr>
              <a:t>§§ 16, 17 HmbKatSG · BIS</a:t>
            </a:r>
          </a:p>
        </p:txBody>
      </p:sp>
      <p:sp>
        <p:nvSpPr>
          <p:cNvPr id="54" name="KernBar">
            <a:extLst>
              <a:ext uri="{FF2B5EF4-FFF2-40B4-BE49-F238E27FC236}">
                <a16:creationId xmlns:a16="http://schemas.microsoft.com/office/drawing/2014/main" id="{5839FAFC-5C10-6542-9214-DFC7DCF4CC0A}"/>
              </a:ext>
            </a:extLst>
          </p:cNvPr>
          <p:cNvSpPr/>
          <p:nvPr/>
        </p:nvSpPr>
        <p:spPr>
          <a:xfrm>
            <a:off x="635000" y="5524500"/>
            <a:ext cx="10922000" cy="6985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5" name="BarText">
            <a:extLst>
              <a:ext uri="{FF2B5EF4-FFF2-40B4-BE49-F238E27FC236}">
                <a16:creationId xmlns:a16="http://schemas.microsoft.com/office/drawing/2014/main" id="{E435E80A-531D-C747-8D37-8E3F68296155}"/>
              </a:ext>
            </a:extLst>
          </p:cNvPr>
          <p:cNvSpPr txBox="1"/>
          <p:nvPr/>
        </p:nvSpPr>
        <p:spPr>
          <a:xfrm>
            <a:off x="889000" y="56134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de-DE" sz="2000" b="1" spc="200" dirty="0">
                <a:solidFill>
                  <a:srgbClr val="FFFFFF"/>
                </a:solidFill>
                <a:latin typeface="Cambria" pitchFamily="34" charset="0"/>
              </a:rPr>
              <a:t>Politischer Impuls  ≠  Verwaltungsakt</a:t>
            </a:r>
          </a:p>
        </p:txBody>
      </p:sp>
      <p:sp>
        <p:nvSpPr>
          <p:cNvPr id="56" name="BarSub">
            <a:extLst>
              <a:ext uri="{FF2B5EF4-FFF2-40B4-BE49-F238E27FC236}">
                <a16:creationId xmlns:a16="http://schemas.microsoft.com/office/drawing/2014/main" id="{ED629247-9F58-A643-A064-C1A58EAD7F3B}"/>
              </a:ext>
            </a:extLst>
          </p:cNvPr>
          <p:cNvSpPr txBox="1"/>
          <p:nvPr/>
        </p:nvSpPr>
        <p:spPr>
          <a:xfrm>
            <a:off x="889000" y="59182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buNone/>
            </a:pPr>
            <a:r>
              <a:rPr lang="de-DE" sz="1200" dirty="0">
                <a:solidFill>
                  <a:srgbClr val="C8CEDC"/>
                </a:solidFill>
                <a:latin typeface="Calibri" pitchFamily="34" charset="0"/>
              </a:rPr>
              <a:t>BGM I lenkt die Katastrophenabwehr politisch — konkrete Einzelmaßnahmen bleiben bei den zuständigen Behörden</a:t>
            </a:r>
          </a:p>
        </p:txBody>
      </p:sp>
    </p:spTree>
    <p:extLst>
      <p:ext uri="{BB962C8B-B14F-4D97-AF65-F5344CB8AC3E}">
        <p14:creationId xmlns:p14="http://schemas.microsoft.com/office/powerpoint/2010/main" val="226809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05 · BEFUGNISSE IM DETAIL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Befugnisse des Ersten Bürgermeisters</a:t>
            </a:r>
          </a:p>
        </p:txBody>
      </p:sp>
      <p:sp>
        <p:nvSpPr>
          <p:cNvPr id="100" name="Card 1"/>
          <p:cNvSpPr/>
          <p:nvPr/>
        </p:nvSpPr>
        <p:spPr>
          <a:xfrm>
            <a:off x="6350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1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Richtlinien der Politik vorgeben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 S. 2 Verf HA; § 3 SenGO</a:t>
            </a:r>
          </a:p>
        </p:txBody>
      </p:sp>
      <p:sp>
        <p:nvSpPr>
          <p:cNvPr id="101" name="Accent 1"/>
          <p:cNvSpPr/>
          <p:nvPr/>
        </p:nvSpPr>
        <p:spPr>
          <a:xfrm>
            <a:off x="6350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2" name="Card 2"/>
          <p:cNvSpPr/>
          <p:nvPr/>
        </p:nvSpPr>
        <p:spPr>
          <a:xfrm>
            <a:off x="34036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2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Senat leiten, Sondersitzung einberufen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 S. 1 Verf HA; §§ 2, 13, 15 SenGO</a:t>
            </a:r>
          </a:p>
        </p:txBody>
      </p:sp>
      <p:sp>
        <p:nvSpPr>
          <p:cNvPr id="103" name="Accent 2"/>
          <p:cNvSpPr/>
          <p:nvPr/>
        </p:nvSpPr>
        <p:spPr>
          <a:xfrm>
            <a:off x="34036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4" name="Card 3"/>
          <p:cNvSpPr/>
          <p:nvPr/>
        </p:nvSpPr>
        <p:spPr>
          <a:xfrm>
            <a:off x="61722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3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Einheitliche Lenkung übernehmen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Nr. 5 I S. 2 KatSO — jederzeit</a:t>
            </a:r>
          </a:p>
        </p:txBody>
      </p:sp>
      <p:sp>
        <p:nvSpPr>
          <p:cNvPr id="105" name="Accent 3"/>
          <p:cNvSpPr/>
          <p:nvPr/>
        </p:nvSpPr>
        <p:spPr>
          <a:xfrm>
            <a:off x="61722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6" name="Card 4"/>
          <p:cNvSpPr/>
          <p:nvPr/>
        </p:nvSpPr>
        <p:spPr>
          <a:xfrm>
            <a:off x="89408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4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Weisungen im Eilfall erteilen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Nr. 5 II KatSO i.V.m. § 22 I Nr. 2 SenGO</a:t>
            </a:r>
          </a:p>
        </p:txBody>
      </p:sp>
      <p:sp>
        <p:nvSpPr>
          <p:cNvPr id="107" name="Accent 4"/>
          <p:cNvSpPr/>
          <p:nvPr/>
        </p:nvSpPr>
        <p:spPr>
          <a:xfrm>
            <a:off x="89408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Card 5"/>
          <p:cNvSpPr/>
          <p:nvPr/>
        </p:nvSpPr>
        <p:spPr>
          <a:xfrm>
            <a:off x="635000" y="40894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5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Stichentscheid bei Stimmengleichheit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III S. 2 Verf HA; § 18 II SenGO</a:t>
            </a:r>
          </a:p>
        </p:txBody>
      </p:sp>
      <p:sp>
        <p:nvSpPr>
          <p:cNvPr id="109" name="Accent 5"/>
          <p:cNvSpPr/>
          <p:nvPr/>
        </p:nvSpPr>
        <p:spPr>
          <a:xfrm>
            <a:off x="635000" y="40894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0" name="Card 6"/>
          <p:cNvSpPr/>
          <p:nvPr/>
        </p:nvSpPr>
        <p:spPr>
          <a:xfrm>
            <a:off x="3403600" y="40894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6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Hilfeersuchen Bund/Länder steuern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 12 HmbKatSG; Art. 35 II, III GG</a:t>
            </a:r>
          </a:p>
        </p:txBody>
      </p:sp>
      <p:sp>
        <p:nvSpPr>
          <p:cNvPr id="111" name="Accent 6"/>
          <p:cNvSpPr/>
          <p:nvPr/>
        </p:nvSpPr>
        <p:spPr>
          <a:xfrm>
            <a:off x="3403600" y="40894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Card 7"/>
          <p:cNvSpPr/>
          <p:nvPr/>
        </p:nvSpPr>
        <p:spPr>
          <a:xfrm>
            <a:off x="6172200" y="40894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7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Auskünfte und Aktenvorlagen verlangen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 4 II SenGO HA 2025</a:t>
            </a:r>
          </a:p>
        </p:txBody>
      </p:sp>
      <p:sp>
        <p:nvSpPr>
          <p:cNvPr id="113" name="Accent 7"/>
          <p:cNvSpPr/>
          <p:nvPr/>
        </p:nvSpPr>
        <p:spPr>
          <a:xfrm>
            <a:off x="6172200" y="40894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Card 8"/>
          <p:cNvSpPr/>
          <p:nvPr/>
        </p:nvSpPr>
        <p:spPr>
          <a:xfrm>
            <a:off x="8940800" y="40894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0F3F8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</a:rPr>
              <a:t>8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Ressortübergreifend koordinieren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 S. 1 Verf HA</a:t>
            </a:r>
          </a:p>
        </p:txBody>
      </p:sp>
      <p:sp>
        <p:nvSpPr>
          <p:cNvPr id="115" name="Accent 8"/>
          <p:cNvSpPr/>
          <p:nvPr/>
        </p:nvSpPr>
        <p:spPr>
          <a:xfrm>
            <a:off x="8940800" y="40894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34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06 · GRENZEN IM DETAIL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 der Befugnisse</a:t>
            </a:r>
          </a:p>
        </p:txBody>
      </p:sp>
      <p:sp>
        <p:nvSpPr>
          <p:cNvPr id="200" name="Card 1"/>
          <p:cNvSpPr/>
          <p:nvPr/>
        </p:nvSpPr>
        <p:spPr>
          <a:xfrm>
            <a:off x="6350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1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Katastrophe selbst feststellen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 14 II HmbKatSG — Aufgabe der BIS</a:t>
            </a:r>
          </a:p>
        </p:txBody>
      </p:sp>
      <p:sp>
        <p:nvSpPr>
          <p:cNvPr id="201" name="Accent 1"/>
          <p:cNvSpPr/>
          <p:nvPr/>
        </p:nvSpPr>
        <p:spPr>
          <a:xfrm>
            <a:off x="6350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Card 2"/>
          <p:cNvSpPr/>
          <p:nvPr/>
        </p:nvSpPr>
        <p:spPr>
          <a:xfrm>
            <a:off x="34036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2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Feuerwehr-Einsatzleitung am Schadensort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§§ 3, 4 FeuerwG HA — fachliche Einsatzleitung</a:t>
            </a:r>
          </a:p>
        </p:txBody>
      </p:sp>
      <p:sp>
        <p:nvSpPr>
          <p:cNvPr id="203" name="Accent 2"/>
          <p:cNvSpPr/>
          <p:nvPr/>
        </p:nvSpPr>
        <p:spPr>
          <a:xfrm>
            <a:off x="34036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Card 3"/>
          <p:cNvSpPr/>
          <p:nvPr/>
        </p:nvSpPr>
        <p:spPr>
          <a:xfrm>
            <a:off x="61722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3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Weisungen nach § 15 HmbKatSG erteilen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Kompetenz der Katastrophenschutzbehörde</a:t>
            </a:r>
          </a:p>
        </p:txBody>
      </p:sp>
      <p:sp>
        <p:nvSpPr>
          <p:cNvPr id="205" name="Accent 3"/>
          <p:cNvSpPr/>
          <p:nvPr/>
        </p:nvSpPr>
        <p:spPr>
          <a:xfrm>
            <a:off x="61722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Card 4"/>
          <p:cNvSpPr/>
          <p:nvPr/>
        </p:nvSpPr>
        <p:spPr>
          <a:xfrm>
            <a:off x="8940800" y="16002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4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Räumungen und Absperrungen anordnen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 17 HmbKatSG — BIS / Bezirksämter</a:t>
            </a:r>
          </a:p>
        </p:txBody>
      </p:sp>
      <p:sp>
        <p:nvSpPr>
          <p:cNvPr id="207" name="Accent 4"/>
          <p:cNvSpPr/>
          <p:nvPr/>
        </p:nvSpPr>
        <p:spPr>
          <a:xfrm>
            <a:off x="8940800" y="16002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8" name="Card 5"/>
          <p:cNvSpPr/>
          <p:nvPr/>
        </p:nvSpPr>
        <p:spPr>
          <a:xfrm>
            <a:off x="635000" y="40259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5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Heranziehungsverfügungen aussprechen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§ 16 HmbKatSG — Katastrophenschutzbehörde</a:t>
            </a:r>
          </a:p>
        </p:txBody>
      </p:sp>
      <p:sp>
        <p:nvSpPr>
          <p:cNvPr id="209" name="Accent 5"/>
          <p:cNvSpPr/>
          <p:nvPr/>
        </p:nvSpPr>
        <p:spPr>
          <a:xfrm>
            <a:off x="635000" y="40259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0" name="Card 6"/>
          <p:cNvSpPr/>
          <p:nvPr/>
        </p:nvSpPr>
        <p:spPr>
          <a:xfrm>
            <a:off x="3403600" y="40259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6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An der Senatsmehrheit vorbeiregieren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III Verf HA — nur Eilkompetenz</a:t>
            </a:r>
          </a:p>
        </p:txBody>
      </p:sp>
      <p:sp>
        <p:nvSpPr>
          <p:cNvPr id="211" name="Accent 6"/>
          <p:cNvSpPr/>
          <p:nvPr/>
        </p:nvSpPr>
        <p:spPr>
          <a:xfrm>
            <a:off x="3403600" y="40259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2" name="Card 7"/>
          <p:cNvSpPr/>
          <p:nvPr/>
        </p:nvSpPr>
        <p:spPr>
          <a:xfrm>
            <a:off x="6172200" y="40259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7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Einzelentscheidungen an sich ziehen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Art. 42 II S. 1 Verf HA — Ressortprinzip</a:t>
            </a:r>
          </a:p>
        </p:txBody>
      </p:sp>
      <p:sp>
        <p:nvSpPr>
          <p:cNvPr id="213" name="Accent 7"/>
          <p:cNvSpPr/>
          <p:nvPr/>
        </p:nvSpPr>
        <p:spPr>
          <a:xfrm>
            <a:off x="6172200" y="40259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4" name="Card 8"/>
          <p:cNvSpPr/>
          <p:nvPr/>
        </p:nvSpPr>
        <p:spPr>
          <a:xfrm>
            <a:off x="8940800" y="4025900"/>
            <a:ext cx="2616200" cy="22733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0">
            <a:noFill/>
          </a:ln>
        </p:spPr>
        <p:txBody>
          <a:bodyPr lIns="108000" tIns="108000" rIns="108000" bIns="72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8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</a:rPr>
              <a:t>Handlungsspielraum der Adressaten aushebeln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</a:rPr>
              <a:t>Nr. 6 KatSO — Mäßigungsgebot</a:t>
            </a:r>
          </a:p>
        </p:txBody>
      </p:sp>
      <p:sp>
        <p:nvSpPr>
          <p:cNvPr id="215" name="Accent 8"/>
          <p:cNvSpPr/>
          <p:nvPr/>
        </p:nvSpPr>
        <p:spPr>
          <a:xfrm>
            <a:off x="8940800" y="4025900"/>
            <a:ext cx="2616200" cy="63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2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Rechtsgutachten · Erster Bürgermeister / Katastrophenlage</a:t>
            </a:r>
          </a:p>
        </p:txBody>
      </p:sp>
      <p:sp>
        <p:nvSpPr>
          <p:cNvPr id="5" name="Text 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07 · KERNAUSSAGE FÜR DIE BIS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Schlussfolgerungen für die Innenbehörde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84778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548640" cy="304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371600" y="1920240"/>
            <a:ext cx="2570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Regulär: Lenkung beim Staatsrat BIS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2570378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Nr. 5 Abs. 1 S. 1 KatSO bleibt die einheitliche Lenkung der Abwehrmaßnahmen Aufgabe des für die BIS zuständigen Staatsrats. Die Rolle der BIS als Katastrophenschutzbehörde (Abschn. II KatSchGDAnO HA) bleibt unverändert.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3458" y="1737360"/>
            <a:ext cx="3484778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353458" y="1737360"/>
            <a:ext cx="548640" cy="304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353458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84978" y="1920240"/>
            <a:ext cx="2570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Eintrittsrechte des Ersten Bürgermeisters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4978" y="2697480"/>
            <a:ext cx="2570378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Nr. 5 Abs. 1 S. 2 KatSO — jederzeitige Lenkungsübernahme. Nr. 5 Abs. 2 KatSO — Weisungen an alle Behörden im Verfügungswege. Beide Befugnisse sind Eskalationsstufen, keine Alltagsinstrumente; Mäßigungsgebot Nr. 6 KatSO ist zu beachten.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66837" y="1737360"/>
            <a:ext cx="3484778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8066837" y="1737360"/>
            <a:ext cx="548640" cy="304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8066837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798357" y="1920240"/>
            <a:ext cx="2570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Unveränderte Fachzuständigkeit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98357" y="2697480"/>
            <a:ext cx="2570378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Katastrophenfeststellung (§ 14 Abs. 2 HmbKatSG), § 15-Weisungen, § 17-Anordnungen sowie die Feuerwehr-Einsatzleitung verbleiben bei BIS und Feuerwehr. Die Lenkungsübernahme überlagert die Koordination, nicht die fachliche Einsatzführung.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019040"/>
            <a:ext cx="10911535" cy="1691640"/>
          </a:xfrm>
          <a:prstGeom prst="rect">
            <a:avLst/>
          </a:prstGeom>
          <a:solidFill>
            <a:srgbClr val="F3F4F8"/>
          </a:solidFill>
          <a:ln w="6350">
            <a:solidFill>
              <a:srgbClr val="C9CF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0080" y="5019040"/>
            <a:ext cx="10972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960120" y="518363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</a:p>
        </p:txBody>
      </p:sp>
      <p:sp>
        <p:nvSpPr>
          <p:cNvPr id="26" name="Text 24"/>
          <p:cNvSpPr/>
          <p:nvPr/>
        </p:nvSpPr>
        <p:spPr>
          <a:xfrm>
            <a:off x="960120" y="5476240"/>
            <a:ext cx="10271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Redaktionelle Folgeanpassung der KatSO:  </a:t>
            </a: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Verweis in Nr. 5 Abs. 2 KatSO auf „§ 22 Abs. 1 Buchst. b der Geschäftsordnung des Senats" bezieht sich inhaltlich auf § 22 Abs. 1 Nr. 2 SenGO HA 2025 (Ermächtigungsvariante). Eine formelle Aktualisierung des Verweises schafft Rechtsklarheit.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 Konsequenz:  </a:t>
            </a:r>
            <a:r>
              <a:rPr lang="en-US" sz="1400" dirty="0">
                <a:solidFill>
                  <a:srgbClr val="151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Stabsarbeit der BIS sollte die Eintrittsrechte des Präsidenten des Senats (Nr. 5 Abs. 1 S. 2 und Abs. 2 KatSO) in Ablauf- und Kommunikationsplänen explizit vorsehen — einschließlich Schnittstelle zur Senatskanzlei und zum Auskunftsrecht nach § 4 Abs. 2 SenGO HA 2025.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678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7D0FE5-CAFB-1346-80C7-FA0EB848AED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c986ba1-a575-4085-b9c7-05461886b1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Macintosh PowerPoint</Application>
  <PresentationFormat>Breitbild</PresentationFormat>
  <Paragraphs>153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Freie und Hansestadt Hamburg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Handlungsmöglichkeiten des Ersten Bürgermeisters in der Katastrophenlage</dc:title>
  <dc:subject>PptxGenJS Presentation</dc:subject>
  <dc:creator>Tobi · Rechtsgutachten</dc:creator>
  <cp:lastModifiedBy>Tobias Wilde-Zahn</cp:lastModifiedBy>
  <cp:revision>2</cp:revision>
  <dcterms:created xsi:type="dcterms:W3CDTF">2026-04-17T20:30:04Z</dcterms:created>
  <dcterms:modified xsi:type="dcterms:W3CDTF">2026-04-18T11:10:57Z</dcterms:modified>
</cp:coreProperties>
</file>